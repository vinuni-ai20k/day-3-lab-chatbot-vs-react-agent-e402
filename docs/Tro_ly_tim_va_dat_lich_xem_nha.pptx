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6"/>
          </a:solidFill>
          <a:ln>
            <a:solidFill>
              <a:srgbClr val="0A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-365760"/>
            <a:ext cx="4937760" cy="7498079"/>
          </a:xfrm>
          <a:prstGeom prst="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4114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2D6BE"/>
                </a:solidFill>
                <a:latin typeface="Aptos"/>
              </a:rPr>
              <a:t>LAB 03  / 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6583680" cy="1828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"/>
              </a:rPr>
              <a:t>TRỢ LÝ TÌM &amp;
ĐẶT LỊCH XEM NHÀ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310128"/>
            <a:ext cx="621792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ABB9CC"/>
                </a:solidFill>
                <a:latin typeface="Aptos"/>
              </a:rPr>
              <a:t>Từ câu trả lời “nghe hợp lý” đến hành động
có dữ liệu, có kiểm chứng và có phanh an toàn.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800600"/>
            <a:ext cx="1600200" cy="384048"/>
          </a:xfrm>
          <a:prstGeom prst="roundRect">
            <a:avLst/>
          </a:prstGeom>
          <a:solidFill>
            <a:srgbClr val="5DA4FF"/>
          </a:solidFill>
          <a:ln>
            <a:solidFill>
              <a:srgbClr val="5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4818888"/>
            <a:ext cx="16002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CHATBOT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4800600"/>
            <a:ext cx="1417320" cy="384048"/>
          </a:xfrm>
          <a:prstGeom prst="round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481888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REACT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4800600"/>
            <a:ext cx="1325880" cy="384048"/>
          </a:xfrm>
          <a:prstGeom prst="roundRect">
            <a:avLst/>
          </a:prstGeom>
          <a:solidFill>
            <a:srgbClr val="FFAE42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6512" y="4818888"/>
            <a:ext cx="13258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715000"/>
            <a:ext cx="50292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Nhóm: ____________________
Thành viên: ____________________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8641080" y="1234440"/>
            <a:ext cx="2651760" cy="1965960"/>
          </a:xfrm>
          <a:prstGeom prst="triangle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88552" y="2816352"/>
            <a:ext cx="1956816" cy="19202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6648" y="3721608"/>
            <a:ext cx="566928" cy="1014984"/>
          </a:xfrm>
          <a:prstGeom prst="rect">
            <a:avLst/>
          </a:prstGeom>
          <a:solidFill>
            <a:srgbClr val="FFAE42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20" y="3182112"/>
            <a:ext cx="457200" cy="457200"/>
          </a:xfrm>
          <a:prstGeom prst="rect">
            <a:avLst/>
          </a:prstGeom>
          <a:solidFill>
            <a:srgbClr val="5DA4FF"/>
          </a:solidFill>
          <a:ln>
            <a:solidFill>
              <a:srgbClr val="5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87000" y="3182112"/>
            <a:ext cx="457200" cy="457200"/>
          </a:xfrm>
          <a:prstGeom prst="rect">
            <a:avLst/>
          </a:prstGeom>
          <a:solidFill>
            <a:srgbClr val="5DA4FF"/>
          </a:solidFill>
          <a:ln>
            <a:solidFill>
              <a:srgbClr val="5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09960" y="62636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BB9C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2D6BE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42416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Bài toán thực tế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905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3000" y="813816"/>
            <a:ext cx="10241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Người thuê cần nhiều hơn một câu trả lời hội thoại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45720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VINUNI • LAB 03 • CHATBOT VS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BB9C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3429000" cy="438912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3152" cy="4389120"/>
          </a:xfrm>
          <a:prstGeom prst="rect">
            <a:avLst/>
          </a:prstGeom>
          <a:solidFill>
            <a:srgbClr val="5DA4FF"/>
          </a:solidFill>
          <a:ln>
            <a:solidFill>
              <a:srgbClr val="5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81912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DA4FF"/>
                </a:solidFill>
                <a:latin typeface="Aptos"/>
              </a:rPr>
              <a:t>01 • KHÁM PHÁ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75104"/>
            <a:ext cx="29260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Thông tin phân mảnh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51760"/>
            <a:ext cx="2926080" cy="2852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BB9CC"/>
                </a:solidFill>
                <a:latin typeface="Aptos"/>
              </a:rPr>
              <a:t>Tin đăng nằm ở nhiều nguồn, tiêu chí tìm kiếm khác nhau và dữ liệu có thể nhanh chóng lỗi thời.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353312"/>
            <a:ext cx="3429000" cy="438912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353312"/>
            <a:ext cx="73152" cy="4389120"/>
          </a:xfrm>
          <a:prstGeom prst="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581912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2D6BE"/>
                </a:solidFill>
                <a:latin typeface="Aptos"/>
              </a:rPr>
              <a:t>02 • QUYẾT ĐỊNH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975104"/>
            <a:ext cx="29260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Nhiều ràng buộc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651760"/>
            <a:ext cx="2926080" cy="2852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BB9CC"/>
                </a:solidFill>
                <a:latin typeface="Aptos"/>
              </a:rPr>
              <a:t>Khu vực, ngân sách, loại phòng, thú cưng, tiện ích và lịch rảnh phải được xét đồng thời.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353312"/>
            <a:ext cx="3429000" cy="438912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353312"/>
            <a:ext cx="73152" cy="4389120"/>
          </a:xfrm>
          <a:prstGeom prst="rect">
            <a:avLst/>
          </a:prstGeom>
          <a:solidFill>
            <a:srgbClr val="FFAE42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1581912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AE42"/>
                </a:solidFill>
                <a:latin typeface="Aptos"/>
              </a:rPr>
              <a:t>03 • HÀNH ĐỘNG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1975104"/>
            <a:ext cx="29260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Đặt lịch có rủi 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651760"/>
            <a:ext cx="2926080" cy="2852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BB9CC"/>
                </a:solidFill>
                <a:latin typeface="Aptos"/>
              </a:rPr>
              <a:t>Không được bịa căn, bịa lịch trống hoặc tự ý xác nhận một hành động có tác động thật.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89320"/>
            <a:ext cx="10378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CÂU HỎI TRỌNG TÂM  →  Làm sao biến nhu cầu tự nhiên thành một quy trình tìm kiếm và đặt lịch đáng tin cậy?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2D6BE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42416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Vì sao bài toán cần Agent?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905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3000" y="813816"/>
            <a:ext cx="10241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Agentic Fit: dữ liệu thật + nhiều bước + quyết định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45720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VINUNI • LAB 03 • CHATBOT VS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BB9CC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ABB9CC"/>
                </a:solidFill>
                <a:latin typeface="Aptos"/>
              </a:rPr>
              <a:t>MULTI-STEP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307592"/>
            <a:ext cx="5669280" cy="29260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94560" y="1307592"/>
            <a:ext cx="4535424" cy="292608"/>
          </a:xfrm>
          <a:prstGeom prst="round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252728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4/5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709928"/>
            <a:ext cx="6492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Tìm → chọn căn → kiểm tra lịch → xác nhận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ABB9CC"/>
                </a:solidFill>
                <a:latin typeface="Aptos"/>
              </a:rPr>
              <a:t>TOOL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404872"/>
            <a:ext cx="5669280" cy="29260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94560" y="2404872"/>
            <a:ext cx="5669280" cy="292608"/>
          </a:xfrm>
          <a:prstGeom prst="round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350008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5/5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807208"/>
            <a:ext cx="6492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Tra cứu listings và lịch xem thực tế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20439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ABB9CC"/>
                </a:solidFill>
                <a:latin typeface="Aptos"/>
              </a:rPr>
              <a:t>DYNAMIC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3502151"/>
            <a:ext cx="5669280" cy="29260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94560" y="3502151"/>
            <a:ext cx="4535424" cy="292608"/>
          </a:xfrm>
          <a:prstGeom prst="round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447287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4/5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904487"/>
            <a:ext cx="6492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Listing ID quyết định tool call kế tiếp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617720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ABB9CC"/>
                </a:solidFill>
                <a:latin typeface="Aptos"/>
              </a:rPr>
              <a:t>LONG HORIZON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4599432"/>
            <a:ext cx="5669280" cy="29260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4560" y="4599432"/>
            <a:ext cx="3401568" cy="292608"/>
          </a:xfrm>
          <a:prstGeom prst="roundRect">
            <a:avLst/>
          </a:prstGeom>
          <a:solidFill>
            <a:srgbClr val="FFAE42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544568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3/5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001768"/>
            <a:ext cx="6492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Quy trình ngắn nhưng có trạng thái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1325880"/>
            <a:ext cx="2423160" cy="416052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1828800"/>
            <a:ext cx="196596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5600" b="1">
                <a:solidFill>
                  <a:srgbClr val="32D6BE"/>
                </a:solidFill>
                <a:latin typeface="Aptos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798064"/>
            <a:ext cx="196596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ABB9CC"/>
                </a:solidFill>
                <a:latin typeface="Aptos"/>
              </a:rPr>
              <a:t>/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703320"/>
            <a:ext cx="196596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RẤT PHÙ HỢP
VỚI REACT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806440"/>
            <a:ext cx="97383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AE42"/>
                </a:solidFill>
                <a:latin typeface="Aptos"/>
              </a:rPr>
              <a:t>Chatbot vẫn phù hợp cho câu hỏi kiến thức chung; Agent chỉ được kích hoạt khi cần dữ liệu hoặc hành động.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2D6BE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42416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Kiến trúc giải pháp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905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3000" y="813816"/>
            <a:ext cx="10241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Các module độc lập, ghép nối qua contract rõ ràng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45720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VINUNI • LAB 03 • CHATBOT VS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BB9CC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938528" cy="224028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938528" cy="109728"/>
          </a:xfrm>
          <a:prstGeom prst="rect">
            <a:avLst/>
          </a:prstGeom>
          <a:solidFill>
            <a:srgbClr val="5DA4FF"/>
          </a:solidFill>
          <a:ln>
            <a:solidFill>
              <a:srgbClr val="5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267712"/>
            <a:ext cx="160934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5DA4FF"/>
                </a:solidFill>
                <a:latin typeface="Aptos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852928"/>
            <a:ext cx="1609344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Yêu cầu tự nhiên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2990088"/>
            <a:ext cx="301752" cy="0"/>
          </a:xfrm>
          <a:prstGeom prst="line">
            <a:avLst/>
          </a:prstGeom>
          <a:ln w="25400">
            <a:solidFill>
              <a:srgbClr val="AB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0" y="1874519"/>
            <a:ext cx="1938528" cy="224028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874519"/>
            <a:ext cx="1938528" cy="109728"/>
          </a:xfrm>
          <a:prstGeom prst="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2267712"/>
            <a:ext cx="160934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6BE"/>
                </a:solidFill>
                <a:latin typeface="Aptos"/>
              </a:rPr>
              <a:t>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852928"/>
            <a:ext cx="1609344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Router + ReAct loop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81728" y="2990088"/>
            <a:ext cx="393192" cy="0"/>
          </a:xfrm>
          <a:prstGeom prst="line">
            <a:avLst/>
          </a:prstGeom>
          <a:ln w="25400">
            <a:solidFill>
              <a:srgbClr val="AB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4920" y="1874519"/>
            <a:ext cx="1938528" cy="224028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1874519"/>
            <a:ext cx="1938528" cy="109728"/>
          </a:xfrm>
          <a:prstGeom prst="rect">
            <a:avLst/>
          </a:prstGeom>
          <a:solidFill>
            <a:srgbClr val="FFAE42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2267712"/>
            <a:ext cx="160934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AE42"/>
                </a:solidFill>
                <a:latin typeface="Aptos"/>
              </a:rP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2852928"/>
            <a:ext cx="1609344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OpenAI / GPT-4o-mini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13448" y="2990088"/>
            <a:ext cx="393192" cy="0"/>
          </a:xfrm>
          <a:prstGeom prst="line">
            <a:avLst/>
          </a:prstGeom>
          <a:ln w="25400">
            <a:solidFill>
              <a:srgbClr val="AB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06640" y="1874519"/>
            <a:ext cx="1938528" cy="224028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1874519"/>
            <a:ext cx="1938528" cy="109728"/>
          </a:xfrm>
          <a:prstGeom prst="rect">
            <a:avLst/>
          </a:prstGeom>
          <a:solidFill>
            <a:srgbClr val="59DC91"/>
          </a:solidFill>
          <a:ln>
            <a:solidFill>
              <a:srgbClr val="59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2267712"/>
            <a:ext cx="160934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59DC91"/>
                </a:solidFill>
                <a:latin typeface="Aptos"/>
              </a:rPr>
              <a:t>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2852928"/>
            <a:ext cx="1609344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Search • Slots • Book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45167" y="2990088"/>
            <a:ext cx="393193" cy="0"/>
          </a:xfrm>
          <a:prstGeom prst="line">
            <a:avLst/>
          </a:prstGeom>
          <a:ln w="25400">
            <a:solidFill>
              <a:srgbClr val="AB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38360" y="1874519"/>
            <a:ext cx="1938528" cy="224028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38360" y="1874519"/>
            <a:ext cx="1938528" cy="109728"/>
          </a:xfrm>
          <a:prstGeom prst="rect">
            <a:avLst/>
          </a:prstGeom>
          <a:solidFill>
            <a:srgbClr val="FF6575"/>
          </a:solidFill>
          <a:ln>
            <a:solidFill>
              <a:srgbClr val="FF6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02952" y="2267712"/>
            <a:ext cx="160934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6575"/>
                </a:solidFill>
                <a:latin typeface="Aptos"/>
              </a:rPr>
              <a:t>TRACE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2852928"/>
            <a:ext cx="1609344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Log + 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846320"/>
            <a:ext cx="2286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DA4FF"/>
                </a:solidFill>
                <a:latin typeface="Aptos"/>
              </a:rPr>
              <a:t>config/test_cases.json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30368"/>
            <a:ext cx="2286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BB9CC"/>
                </a:solidFill>
                <a:latin typeface="Aptos"/>
              </a:rPr>
              <a:t>Bộ 10 tình huống kiểm thử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846320"/>
            <a:ext cx="2286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32D6BE"/>
                </a:solidFill>
                <a:latin typeface="Aptos"/>
              </a:rPr>
              <a:t>src/app.py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5230368"/>
            <a:ext cx="2286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BB9CC"/>
                </a:solidFill>
                <a:latin typeface="Aptos"/>
              </a:rPr>
              <a:t>Tích hợp provider và registry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50992" y="4846320"/>
            <a:ext cx="2286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9DC91"/>
                </a:solidFill>
                <a:latin typeface="Aptos"/>
              </a:rPr>
              <a:t>src/tools.py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5230368"/>
            <a:ext cx="2286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BB9CC"/>
                </a:solidFill>
                <a:latin typeface="Aptos"/>
              </a:rPr>
              <a:t>Nguồn dữ liệu deterministic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7304" y="4846320"/>
            <a:ext cx="2560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6575"/>
                </a:solidFill>
                <a:latin typeface="Aptos"/>
              </a:rPr>
              <a:t>docs/trace_eval.md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7304" y="5230368"/>
            <a:ext cx="2560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BB9CC"/>
                </a:solidFill>
                <a:latin typeface="Aptos"/>
              </a:rPr>
              <a:t>Bằng chứng để đánh giá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2D6BE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42416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ReAct Agent hoạt động thế nào?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905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3000" y="813816"/>
            <a:ext cx="10241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Một Action hợp lệ luôn tạo đúng một 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45720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VINUNI • LAB 03 • CHATBOT VS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BB9C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874519" cy="233172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29968"/>
            <a:ext cx="365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5DA4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51760"/>
            <a:ext cx="1600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DA4FF"/>
                </a:solidFill>
                <a:latin typeface="Aptos"/>
              </a:rPr>
              <a:t>THOUGHT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154680"/>
            <a:ext cx="16002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Tôi cần tìm căn phù hợp.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788920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ABB9C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1828800"/>
            <a:ext cx="1874519" cy="233172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029968"/>
            <a:ext cx="365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32D6BE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651760"/>
            <a:ext cx="1600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32D6BE"/>
                </a:solidFill>
                <a:latin typeface="Aptos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3154680"/>
            <a:ext cx="16002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search_rentals[…]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788920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ABB9CC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38928" y="1828800"/>
            <a:ext cx="1874519" cy="233172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029968"/>
            <a:ext cx="365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AE42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651760"/>
            <a:ext cx="1600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AE42"/>
                </a:solidFill>
                <a:latin typeface="Aptos"/>
              </a:rPr>
              <a:t>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154680"/>
            <a:ext cx="16002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APT-102 • 9,5 triệu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2788920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ABB9C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1828800"/>
            <a:ext cx="1874519" cy="233172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2029968"/>
            <a:ext cx="365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59DC91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2651760"/>
            <a:ext cx="1600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9DC91"/>
                </a:solidFill>
                <a:latin typeface="Aptos"/>
              </a:rPr>
              <a:t>NEXT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3154680"/>
            <a:ext cx="16002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get_viewing_slots[…]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7" y="2788920"/>
            <a:ext cx="411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ABB9CC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10928" y="1828800"/>
            <a:ext cx="1874519" cy="233172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48088" y="2029968"/>
            <a:ext cx="365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6575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2651760"/>
            <a:ext cx="1600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6575"/>
                </a:solidFill>
                <a:latin typeface="Aptos"/>
              </a:rPr>
              <a:t>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3154680"/>
            <a:ext cx="16002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Tổng hợp có bằng chứng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4800600"/>
            <a:ext cx="10104120" cy="86868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047488"/>
            <a:ext cx="1600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AE42"/>
                </a:solidFill>
                <a:latin typeface="Aptos"/>
              </a:rPr>
              <a:t>KỶ LUẬT CỐT LÕI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983480"/>
            <a:ext cx="78638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Không có Observation → không được khẳng định đã tìm thấy căn hoặc đặt lịch thành công.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2D6BE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42416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Tool &amp; dữ liệu cần xây dựng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905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3000" y="813816"/>
            <a:ext cx="10241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Contract dự kiến để Role 2 nối vào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45720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VINUNI • LAB 03 • CHATBOT VS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BB9CC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10835640" cy="102412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82296" cy="1024128"/>
          </a:xfrm>
          <a:prstGeom prst="rect">
            <a:avLst/>
          </a:prstGeom>
          <a:solidFill>
            <a:srgbClr val="5DA4FF"/>
          </a:solidFill>
          <a:ln>
            <a:solidFill>
              <a:srgbClr val="5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00200"/>
            <a:ext cx="2103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DA4FF"/>
                </a:solidFill>
                <a:latin typeface="Aptos"/>
              </a:rPr>
              <a:t>search_rentals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600200"/>
            <a:ext cx="42519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location, max_price, bedrooms, pet_allowed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600200"/>
            <a:ext cx="36118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Danh sách listing có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029968"/>
            <a:ext cx="6400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29968"/>
            <a:ext cx="7315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770632"/>
            <a:ext cx="10835640" cy="102412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770632"/>
            <a:ext cx="82296" cy="1024128"/>
          </a:xfrm>
          <a:prstGeom prst="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953512"/>
            <a:ext cx="2103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32D6BE"/>
                </a:solidFill>
                <a:latin typeface="Aptos"/>
              </a:rPr>
              <a:t>get_viewing_slots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953512"/>
            <a:ext cx="42519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listing_id, date_range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953512"/>
            <a:ext cx="36118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Các khung giờ còn trống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3383280"/>
            <a:ext cx="6400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383280"/>
            <a:ext cx="7315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23944"/>
            <a:ext cx="10835640" cy="102412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123944"/>
            <a:ext cx="82296" cy="1024128"/>
          </a:xfrm>
          <a:prstGeom prst="rect">
            <a:avLst/>
          </a:prstGeom>
          <a:solidFill>
            <a:srgbClr val="FFAE42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306824"/>
            <a:ext cx="21031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AE42"/>
                </a:solidFill>
                <a:latin typeface="Aptos"/>
              </a:rPr>
              <a:t>book_viewing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4306824"/>
            <a:ext cx="42519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listing_id, slot, user_confirmed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306824"/>
            <a:ext cx="36118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Mã xác nhận hoặc lỗi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4736592"/>
            <a:ext cx="6400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736592"/>
            <a:ext cx="7315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687568"/>
            <a:ext cx="1600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AE42"/>
                </a:solidFill>
                <a:latin typeface="Aptos"/>
              </a:rPr>
              <a:t>Trạng thái hiện tại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5623560"/>
            <a:ext cx="8641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Tool nhà trọ chưa có dữ liệu; app hiện vẫn thấy registry mẫu get_weather và search_flights.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2D6BE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42416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Bộ 10 test cases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905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3000" y="813816"/>
            <a:ext cx="10241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Từ nghiệp vụ cốt lõi đến security, privacy và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45720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VINUNI • LAB 03 • CHATBOT VS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BB9CC"/>
                </a:solidFill>
                <a:latin typeface="Apto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5DA4FF"/>
                </a:solidFill>
                <a:latin typeface="Aptos"/>
              </a:rPr>
              <a:t>01–02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1307592"/>
            <a:ext cx="960120" cy="384048"/>
          </a:xfrm>
          <a:prstGeom prst="roundRect">
            <a:avLst/>
          </a:prstGeom>
          <a:solidFill>
            <a:srgbClr val="5DA4FF"/>
          </a:solidFill>
          <a:ln>
            <a:solidFill>
              <a:srgbClr val="5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325880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335024"/>
            <a:ext cx="53492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Kiến thức xem nhà &amp; hợp đồng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344168"/>
            <a:ext cx="34747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0">
                <a:solidFill>
                  <a:srgbClr val="ABB9CC"/>
                </a:solidFill>
                <a:latin typeface="Aptos"/>
              </a:rPr>
              <a:t>Không gọi tool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1975104"/>
            <a:ext cx="10817352" cy="0"/>
          </a:xfrm>
          <a:prstGeom prst="line">
            <a:avLst/>
          </a:prstGeom>
          <a:ln w="1270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2322576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32D6BE"/>
                </a:solidFill>
                <a:latin typeface="Aptos"/>
              </a:rPr>
              <a:t>03–04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98448" y="2258568"/>
            <a:ext cx="960120" cy="384048"/>
          </a:xfrm>
          <a:prstGeom prst="round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2276856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286000"/>
            <a:ext cx="53492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Tìm căn → kiểm tra lịch xem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295144"/>
            <a:ext cx="34747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0">
                <a:solidFill>
                  <a:srgbClr val="ABB9CC"/>
                </a:solidFill>
                <a:latin typeface="Aptos"/>
              </a:rPr>
              <a:t>search_rentals → get_viewing_slots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926080"/>
            <a:ext cx="10817352" cy="0"/>
          </a:xfrm>
          <a:prstGeom prst="line">
            <a:avLst/>
          </a:prstGeom>
          <a:ln w="1270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327355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6575"/>
                </a:solidFill>
                <a:latin typeface="Aptos"/>
              </a:rPr>
              <a:t>05–06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8448" y="3209544"/>
            <a:ext cx="960120" cy="384048"/>
          </a:xfrm>
          <a:prstGeom prst="roundRect">
            <a:avLst/>
          </a:prstGeom>
          <a:solidFill>
            <a:srgbClr val="FF6575"/>
          </a:solidFill>
          <a:ln>
            <a:solidFill>
              <a:srgbClr val="FF6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3227832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INJECTION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236976"/>
            <a:ext cx="53492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Bỏ xác nhận • lộ system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246120"/>
            <a:ext cx="34747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0">
                <a:solidFill>
                  <a:srgbClr val="ABB9CC"/>
                </a:solidFill>
                <a:latin typeface="Aptos"/>
              </a:rPr>
              <a:t>Chặn trước LLM / tool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3877056"/>
            <a:ext cx="10817352" cy="0"/>
          </a:xfrm>
          <a:prstGeom prst="line">
            <a:avLst/>
          </a:prstGeom>
          <a:ln w="1270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4224528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AE42"/>
                </a:solidFill>
                <a:latin typeface="Aptos"/>
              </a:rPr>
              <a:t>07–08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98448" y="4160520"/>
            <a:ext cx="960120" cy="384048"/>
          </a:xfrm>
          <a:prstGeom prst="roundRect">
            <a:avLst/>
          </a:prstGeom>
          <a:solidFill>
            <a:srgbClr val="FFAE42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4178807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PRIVACY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187952"/>
            <a:ext cx="53492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PII • tool thanh toán trái phép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197096"/>
            <a:ext cx="34747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0">
                <a:solidFill>
                  <a:srgbClr val="ABB9CC"/>
                </a:solidFill>
                <a:latin typeface="Aptos"/>
              </a:rPr>
              <a:t>Che PII • whitelist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4828032"/>
            <a:ext cx="10817352" cy="0"/>
          </a:xfrm>
          <a:prstGeom prst="line">
            <a:avLst/>
          </a:prstGeom>
          <a:ln w="1270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517550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59DC91"/>
                </a:solidFill>
                <a:latin typeface="Aptos"/>
              </a:rPr>
              <a:t>09–10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98448" y="5111496"/>
            <a:ext cx="960120" cy="384048"/>
          </a:xfrm>
          <a:prstGeom prst="roundRect">
            <a:avLst/>
          </a:prstGeom>
          <a:solidFill>
            <a:srgbClr val="59DC91"/>
          </a:solidFill>
          <a:ln>
            <a:solidFill>
              <a:srgbClr val="59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98448" y="5129783"/>
            <a:ext cx="96012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RELIABILITY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138928"/>
            <a:ext cx="53492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Không bịa listing • không lặp vô hạn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5148072"/>
            <a:ext cx="34747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0">
                <a:solidFill>
                  <a:srgbClr val="ABB9CC"/>
                </a:solidFill>
                <a:latin typeface="Aptos"/>
              </a:rPr>
              <a:t>Grounding • MAX_ITERATIONS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5779008"/>
            <a:ext cx="10817352" cy="0"/>
          </a:xfrm>
          <a:prstGeom prst="line">
            <a:avLst/>
          </a:prstGeom>
          <a:ln w="1270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97280" y="6144768"/>
            <a:ext cx="9966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AE42"/>
                </a:solidFill>
                <a:latin typeface="Aptos"/>
              </a:rPr>
              <a:t>Cùng một bộ test được chạy trên Baseline và Agent để so sánh công bằng.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2D6BE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42416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Guardrails &amp; khả năng phục hồi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905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3000" y="813816"/>
            <a:ext cx="10241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An toàn là thuộc tính của cả pipeline, không chỉ của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45720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VINUNI • LAB 03 • CHATBOT VS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BB9CC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5257800" cy="166420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55064"/>
            <a:ext cx="1143000" cy="384048"/>
          </a:xfrm>
          <a:prstGeom prst="roundRect">
            <a:avLst/>
          </a:prstGeom>
          <a:solidFill>
            <a:srgbClr val="5DA4FF"/>
          </a:solidFill>
          <a:ln>
            <a:solidFill>
              <a:srgbClr val="5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73352"/>
            <a:ext cx="11430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1645920"/>
            <a:ext cx="32918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Chặn tool không tồn tại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31720"/>
            <a:ext cx="4663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BB9CC"/>
                </a:solidFill>
                <a:latin typeface="Aptos"/>
              </a:rPr>
              <a:t>Unknown tool → Observation lỗi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257800" cy="166420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655064"/>
            <a:ext cx="1143000" cy="384048"/>
          </a:xfrm>
          <a:prstGeom prst="round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73352"/>
            <a:ext cx="11430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1645920"/>
            <a:ext cx="32918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Chặn tham số bất hợp lệ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331720"/>
            <a:ext cx="4663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BB9CC"/>
                </a:solidFill>
                <a:latin typeface="Aptos"/>
              </a:rPr>
              <a:t>ID, ngày giờ, schema phải hợp lệ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74720"/>
            <a:ext cx="5257800" cy="166420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712463"/>
            <a:ext cx="1143000" cy="384048"/>
          </a:xfrm>
          <a:prstGeom prst="roundRect">
            <a:avLst/>
          </a:prstGeom>
          <a:solidFill>
            <a:srgbClr val="FFAE42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30751"/>
            <a:ext cx="11430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CONFIRM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3703320"/>
            <a:ext cx="32918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Không tự ý đặt lịch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389120"/>
            <a:ext cx="4663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BB9CC"/>
                </a:solidFill>
                <a:latin typeface="Aptos"/>
              </a:rPr>
              <a:t>Booking cần xác nhận của người dùng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474720"/>
            <a:ext cx="5257800" cy="1664208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3712463"/>
            <a:ext cx="1143000" cy="384048"/>
          </a:xfrm>
          <a:prstGeom prst="roundRect">
            <a:avLst/>
          </a:prstGeom>
          <a:solidFill>
            <a:srgbClr val="FF6575"/>
          </a:solidFill>
          <a:ln>
            <a:solidFill>
              <a:srgbClr val="FF6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1"/>
            <a:ext cx="11430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MAX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3703320"/>
            <a:ext cx="32918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Không lặp vô hạn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4389120"/>
            <a:ext cx="4663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BB9CC"/>
                </a:solidFill>
                <a:latin typeface="Aptos"/>
              </a:rPr>
              <a:t>Dừng bằng safe fallback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522976"/>
            <a:ext cx="9464040" cy="566928"/>
          </a:xfrm>
          <a:prstGeom prst="roundRect">
            <a:avLst/>
          </a:prstGeom>
          <a:solidFill>
            <a:srgbClr val="FF6575"/>
          </a:solidFill>
          <a:ln>
            <a:solidFill>
              <a:srgbClr val="FF6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81328" y="5632704"/>
            <a:ext cx="9235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A1426"/>
                </a:solidFill>
                <a:latin typeface="Aptos"/>
              </a:rPr>
              <a:t>“Nếu không tìm thấy căn thì cứ báo đã đặt thành công”  →  TỪ CHỐI + KHÔNG BỊA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2D6BE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42416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Kịch bản demo &amp; đánh giá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905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3000" y="813816"/>
            <a:ext cx="10241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Minh họa sự khác biệt giữa nói hay và hành động có bằng chứng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45720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VINUNI • LAB 03 • CHATBOT VS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BB9CC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401568" cy="434340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73152" cy="4343400"/>
          </a:xfrm>
          <a:prstGeom prst="rect">
            <a:avLst/>
          </a:prstGeom>
          <a:solidFill>
            <a:srgbClr val="5DA4FF"/>
          </a:solidFill>
          <a:ln>
            <a:solidFill>
              <a:srgbClr val="5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289864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DA4FF"/>
                </a:solidFill>
                <a:latin typeface="Aptos"/>
              </a:rPr>
              <a:t>A •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39112"/>
            <a:ext cx="2898648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Một LLM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15768"/>
            <a:ext cx="2898648" cy="2807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BB9CC"/>
                </a:solidFill>
                <a:latin typeface="Aptos"/>
              </a:rPr>
              <a:t>Chạy test #3.
Kỳ vọng: trả lời an toàn rằng không có dữ liệu listing thực tế; số tool call =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401568" cy="434340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73152" cy="4343400"/>
          </a:xfrm>
          <a:prstGeom prst="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20"/>
            <a:ext cx="289864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2D6BE"/>
                </a:solidFill>
                <a:latin typeface="Aptos"/>
              </a:rPr>
              <a:t>B •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39112"/>
            <a:ext cx="2898648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Trace có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15768"/>
            <a:ext cx="2898648" cy="2807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BB9CC"/>
                </a:solidFill>
                <a:latin typeface="Aptos"/>
              </a:rPr>
              <a:t>Chạy cùng test #3.
Kỳ vọng: Action → Observation → Final Answer, chỉ dùng listing từ tool.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401568" cy="4343400"/>
          </a:xfrm>
          <a:prstGeom prst="roundRect">
            <a:avLst/>
          </a:prstGeom>
          <a:solidFill>
            <a:srgbClr val="111F35"/>
          </a:solidFill>
          <a:ln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417320"/>
            <a:ext cx="73152" cy="4343400"/>
          </a:xfrm>
          <a:prstGeom prst="rect">
            <a:avLst/>
          </a:prstGeom>
          <a:solidFill>
            <a:srgbClr val="FF6575"/>
          </a:solidFill>
          <a:ln>
            <a:solidFill>
              <a:srgbClr val="FF6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645920"/>
            <a:ext cx="289864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6575"/>
                </a:solidFill>
                <a:latin typeface="Aptos"/>
              </a:rPr>
              <a:t>C • ATTACK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2898648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Guardrail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715768"/>
            <a:ext cx="2898648" cy="2807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BB9CC"/>
                </a:solidFill>
                <a:latin typeface="Aptos"/>
              </a:rPr>
              <a:t>Chạy test #5.
Kỳ vọng: không book, không bịa, dừng đúng MAX_ITERATIONS và đề nghị dữ liệu hợp lệ.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8932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CORRECTNESS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98932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GROUNDING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598932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TOOL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598932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TERMINATION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2D6BE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424160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Tiến độ &amp; bước tiếp theo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987552"/>
            <a:ext cx="11128248" cy="0"/>
          </a:xfrm>
          <a:prstGeom prst="line">
            <a:avLst/>
          </a:prstGeom>
          <a:ln w="1905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3000" y="813816"/>
            <a:ext cx="10241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BB9CC"/>
                </a:solidFill>
                <a:latin typeface="Aptos"/>
              </a:rPr>
              <a:t>Zero-conflict workflow: mỗi role sở hữu đúng một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45720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BB9CC"/>
                </a:solidFill>
                <a:latin typeface="Aptos"/>
              </a:rPr>
              <a:t>VINUNI • LAB 03 • CHATBOT VS REACT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BB9CC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9DC91"/>
                </a:solidFill>
                <a:latin typeface="Aptos"/>
              </a:rPr>
              <a:t>ROLE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353312"/>
            <a:ext cx="3657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Test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298448"/>
            <a:ext cx="2468880" cy="384048"/>
          </a:xfrm>
          <a:prstGeom prst="roundRect">
            <a:avLst/>
          </a:prstGeom>
          <a:solidFill>
            <a:srgbClr val="59DC91"/>
          </a:solidFill>
          <a:ln>
            <a:solidFill>
              <a:srgbClr val="59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316736"/>
            <a:ext cx="24688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HOÀN THÀNH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874519"/>
            <a:ext cx="10469880" cy="0"/>
          </a:xfrm>
          <a:prstGeom prst="line">
            <a:avLst/>
          </a:prstGeom>
          <a:ln w="1270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212848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AE42"/>
                </a:solidFill>
                <a:latin typeface="Aptos"/>
              </a:rPr>
              <a:t>ROLE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194560"/>
            <a:ext cx="3657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Rental tools +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139696"/>
            <a:ext cx="2468880" cy="384048"/>
          </a:xfrm>
          <a:prstGeom prst="roundRect">
            <a:avLst/>
          </a:prstGeom>
          <a:solidFill>
            <a:srgbClr val="FFAE42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157984"/>
            <a:ext cx="24688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TIẾP THEO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2715768"/>
            <a:ext cx="10469880" cy="0"/>
          </a:xfrm>
          <a:prstGeom prst="line">
            <a:avLst/>
          </a:prstGeom>
          <a:ln w="1270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054096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DA4FF"/>
                </a:solidFill>
                <a:latin typeface="Aptos"/>
              </a:rPr>
              <a:t>ROLE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035808"/>
            <a:ext cx="3657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Prompt + safeguards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980944"/>
            <a:ext cx="2468880" cy="384048"/>
          </a:xfrm>
          <a:prstGeom prst="roundRect">
            <a:avLst/>
          </a:prstGeom>
          <a:solidFill>
            <a:srgbClr val="5DA4FF"/>
          </a:solidFill>
          <a:ln>
            <a:solidFill>
              <a:srgbClr val="5D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999232"/>
            <a:ext cx="24688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CHỜ TOOL CONTRACT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557016"/>
            <a:ext cx="10469880" cy="0"/>
          </a:xfrm>
          <a:prstGeom prst="line">
            <a:avLst/>
          </a:prstGeom>
          <a:ln w="1270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895344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9DC91"/>
                </a:solidFill>
                <a:latin typeface="Aptos"/>
              </a:rPr>
              <a:t>ROLE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877056"/>
            <a:ext cx="3657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App integration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3822191"/>
            <a:ext cx="2468880" cy="384048"/>
          </a:xfrm>
          <a:prstGeom prst="roundRect">
            <a:avLst/>
          </a:prstGeom>
          <a:solidFill>
            <a:srgbClr val="59DC91"/>
          </a:solidFill>
          <a:ln>
            <a:solidFill>
              <a:srgbClr val="59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840479"/>
            <a:ext cx="24688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HOÀN THÀNH LÕI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4398264"/>
            <a:ext cx="10469880" cy="0"/>
          </a:xfrm>
          <a:prstGeom prst="line">
            <a:avLst/>
          </a:prstGeom>
          <a:ln w="1270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4736592"/>
            <a:ext cx="1051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6575"/>
                </a:solidFill>
                <a:latin typeface="Aptos"/>
              </a:rPr>
              <a:t>ROLE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718304"/>
            <a:ext cx="3657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Trace + scoring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4663440"/>
            <a:ext cx="2468880" cy="384048"/>
          </a:xfrm>
          <a:prstGeom prst="roundRect">
            <a:avLst/>
          </a:prstGeom>
          <a:solidFill>
            <a:srgbClr val="FF6575"/>
          </a:solidFill>
          <a:ln>
            <a:solidFill>
              <a:srgbClr val="FF6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681727"/>
            <a:ext cx="24688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A1426"/>
                </a:solidFill>
                <a:latin typeface="Aptos"/>
              </a:rPr>
              <a:t>CHỜ DEMO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5239512"/>
            <a:ext cx="10469880" cy="0"/>
          </a:xfrm>
          <a:prstGeom prst="line">
            <a:avLst/>
          </a:prstGeom>
          <a:ln w="12700">
            <a:solidFill>
              <a:srgbClr val="111F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8368" y="5715000"/>
            <a:ext cx="10561320" cy="585216"/>
          </a:xfrm>
          <a:prstGeom prst="roundRect">
            <a:avLst/>
          </a:prstGeom>
          <a:solidFill>
            <a:srgbClr val="32D6BE"/>
          </a:solidFill>
          <a:ln>
            <a:solidFill>
              <a:srgbClr val="32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833872"/>
            <a:ext cx="10378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A1426"/>
                </a:solidFill>
                <a:latin typeface="Aptos"/>
              </a:rPr>
              <a:t>MỤC TIÊU CUỐI  →  TÌM ĐÚNG • ĐẶT LỊCH CÓ XÁC NHẬN • KHÔNG BỊA DỮ LIỆU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Trợ lý tìm &amp; đặt lịch xem nhà trọ / căn hộ</dc:title>
  <dc:subject>Chatbot Baseline vs ReAct Agent</dc:subject>
  <dc:creator>Nhóm dự án VinUni Lab 03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